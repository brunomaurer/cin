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(k CHF)</c:v>
                </c:pt>
              </c:strCache>
            </c:strRef>
          </c:tx>
          <c:spPr>
            <a:solidFill>
              <a:srgbClr val="2AAC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Konservativ
50 Kunden</c:v>
                </c:pt>
                <c:pt idx="1">
                  <c:v>Realistisch
100 Kunden</c:v>
                </c:pt>
                <c:pt idx="2">
                  <c:v>Optimistisch
200 Kunden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</c:v>
                </c:pt>
                <c:pt idx="1">
                  <c:v>580</c:v>
                </c:pt>
                <c:pt idx="2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7-4B50-9010-9CAB1A8811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7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772"/>
                    </a:solidFill>
                    <a:latin typeface="Arial"/>
                  </a:defRPr>
                </a:pPr>
                <a:r>
                  <a:rPr lang="de-CH" sz="1000" b="0" i="0" u="none" strike="noStrike">
                    <a:solidFill>
                      <a:srgbClr val="5A6772"/>
                    </a:solidFill>
                    <a:latin typeface="Arial"/>
                  </a:rPr>
                  <a:t>ARR in 1'000 CHF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7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12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1168" cy="201168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STRATEGIE-MEMO  · 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 3.0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zur AI-Native Innovations-Plattform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5486400"/>
            <a:ext cx="4114800" cy="0"/>
          </a:xfrm>
          <a:prstGeom prst="line">
            <a:avLst/>
          </a:prstGeom>
          <a:noFill/>
          <a:ln w="1905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KERNBOTSCHAFT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wir empfehlen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zur modular aufgebauten, AI-nativen SaaS-Plattform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</a:t>
            </a:r>
            <a:r>
              <a:rPr lang="en-US" sz="19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Schweizer Standort, Sicherheit und Verfügbarkeit</a:t>
            </a: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als USP. Vermarktet über vier </a:t>
            </a:r>
            <a:r>
              <a:rPr lang="en-US" sz="19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Use-Case-Pakete (99–699 CHF/Mo)</a:t>
            </a: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produktintern als Basis-Version mit Add-On-Katalog. Distribution primär via </a:t>
            </a:r>
            <a:r>
              <a:rPr lang="en-US" sz="19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Content, GEO und Webinare</a:t>
            </a: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Provisions-Sales optional als zusätzlicher Channel im Tier-4-Segment. </a:t>
            </a:r>
            <a:r>
              <a:rPr lang="en-US" sz="19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Implementierung durch KI-Agents (Claude, Codex, etc.).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 + Add-Ons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99–699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80560" y="6035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CHF/Mo Einstieg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83880" y="6035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KI-Agents gebaut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AUSGANGSLAGE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wir den Pivot machen müssen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40680" cy="4206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heute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25'000 CHF/Jahr — zu teuer für DACH-Mittelstand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Sales-Cycles, hohe Verkaufshürde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Komplexer Funktions-Pitch statt Use-Case-Sprache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Itonics dominiert Tooling, Trendone das Content-Segment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wird durch externe Dev-Ressourcen aufgefressen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1828800"/>
            <a:ext cx="5440680" cy="4206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03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Chance jetzt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75120" y="26974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macht Validierungs-Arbeit 20–50× günstiger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Problem-Solution-Fit &amp; Product-Market-Fit als Markt-Lücke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Schweizer Standort als kommunizierbarer USP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Bewährte Features aus V1 &amp; V2 fliessen in V3 ein — kein Reset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Self-Service-SaaS senkt Customer-Acquisition-Cost massiv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Solo-Tech-Pfad mit KI-Agents wirtschaftlich machbar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bedeutet: weiter Geld verbrennen oder abwickeln. Es gibt eine dritte, vielversprechendere Option.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SYNTHESE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die drei Founder-Visionen sich treffen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Vorschlag 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Vorschlag Bruno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Empfohlene Synthese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Geschäftsmodell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SaaS-Lizenzen, modular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SaaS-Lizenzen, modular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 deckungsgleich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Produkt-Struktur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+ Add-On-Katalog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Use-Case-Pakete (A–D)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4 Pakete extern, Basis + Add-Ons intern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KI-gestützt, Blog, Benchmarks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+ GEO + Webinare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Beides — synergetisch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Externe Vertriebspartner auf Provisionsbasis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PLG, Self-Service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 default; Vertriebspartner optional Tier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Standort / USP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Schweiz, Sicherheit, Verfügbarkeit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Schweizer Methodik trifft AI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Standort CH als zentrale Marken-Säule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/ 60 k CHF + Dividende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40%, Passiv-Income-Fokus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i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OFFENER PUNKT — separat klären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DAS PRODUKT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Pakete entlang des Innovations-Zyklus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Trends entdecken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3611880"/>
            <a:ext cx="2240280" cy="0"/>
          </a:xfrm>
          <a:prstGeom prst="line">
            <a:avLst/>
          </a:prstGeom>
          <a:noFill/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7"/>
          <p:cNvSpPr/>
          <p:nvPr/>
        </p:nvSpPr>
        <p:spPr>
          <a:xfrm>
            <a:off x="68580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Trend-Mining, Pain-Detection, kuratierte DACH-Quellen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19272" y="182880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9"/>
          <p:cNvSpPr/>
          <p:nvPr/>
        </p:nvSpPr>
        <p:spPr>
          <a:xfrm>
            <a:off x="3319272" y="1828800"/>
            <a:ext cx="2697480" cy="54864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19456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 prüfen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47872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Modul B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547872" y="3611880"/>
            <a:ext cx="2240280" cy="0"/>
          </a:xfrm>
          <a:prstGeom prst="line">
            <a:avLst/>
          </a:prstGeom>
          <a:noFill/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3"/>
          <p:cNvSpPr/>
          <p:nvPr/>
        </p:nvSpPr>
        <p:spPr>
          <a:xfrm>
            <a:off x="3547872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Markt-Sizing, JTBD, Mock-Interviews, Wettbewerbs-Map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81344" y="182880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5"/>
          <p:cNvSpPr/>
          <p:nvPr/>
        </p:nvSpPr>
        <p:spPr>
          <a:xfrm>
            <a:off x="6181344" y="1828800"/>
            <a:ext cx="2697480" cy="54864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19456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9944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Lösungen testen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09944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Modul C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09944" y="3611880"/>
            <a:ext cx="2240280" cy="0"/>
          </a:xfrm>
          <a:prstGeom prst="line">
            <a:avLst/>
          </a:prstGeom>
          <a:noFill/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19"/>
          <p:cNvSpPr/>
          <p:nvPr/>
        </p:nvSpPr>
        <p:spPr>
          <a:xfrm>
            <a:off x="6409944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Interview-Agent, Auto-Landing-Pages, Pricing-Discovery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43416" y="1828800"/>
            <a:ext cx="26974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1"/>
          <p:cNvSpPr/>
          <p:nvPr/>
        </p:nvSpPr>
        <p:spPr>
          <a:xfrm>
            <a:off x="9043416" y="1828800"/>
            <a:ext cx="2697480" cy="54864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219456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72016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Initiativen starten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272016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Modul D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272016" y="3611880"/>
            <a:ext cx="2240280" cy="0"/>
          </a:xfrm>
          <a:prstGeom prst="line">
            <a:avLst/>
          </a:prstGeom>
          <a:noFill/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5"/>
          <p:cNvSpPr/>
          <p:nvPr/>
        </p:nvSpPr>
        <p:spPr>
          <a:xfrm>
            <a:off x="9272016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Charter, Handover-Pakete, Lessons-Learned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 bauen additiv aufeinander auf · jeder Schritt validiert sauber den nächsten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2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Marketing-Disziplin: </a:t>
            </a: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verkaufen </a:t>
            </a:r>
            <a:r>
              <a:rPr lang="en-US" sz="11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Use-Cases und Prozess-Schritte</a:t>
            </a: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nicht Funktionen. Funktionen werden in der zweiten Ebene sichtbar (Detail-Seiten, FAQ, Vergleiche).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1168" cy="201168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POSITIONIERUNG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Schweizer Methodik.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Schweizer Daten.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Speed.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Marken-Säulen, die uns gegen jeden Wettbewerb klar abgrenzen.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Itonics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144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Self-Service, in Tagen onboardbar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19856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Trendone / Megatrend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19856" y="6144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+ Workflow, nicht nur Content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99632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ChatGPT-DIY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9632" y="6144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Methodik, Sicherheit, Schweizer Sorgfalt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79408" y="5852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US-SaaS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79408" y="6144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Daten-Residency CH, Sovereign-LLM-Option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Pakete, additiv gepreist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Preis CHF/Mo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Inkl.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Zusatz-User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Trends entdecken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Steckbriefe, Explorer, Dashboard Basic, Trendradar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CHF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Probleme prüfen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Insight-Agent, Rating, JTBD, Wettbewerbs-Map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CHF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Lösungen testen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Interview-Agent, Auto-Landing, Pricing-Discovery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CHF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Initiativen starten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Initiative Charter, Handover, Workflow, Reporting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CHF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37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Add-Ons (paketübergreifend buchbar)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 ·  </a:t>
            </a: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I/O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 ·  </a:t>
            </a: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 ·  </a:t>
            </a: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Kampagnen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 ·  </a:t>
            </a: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Branchen-Pack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499–799  ·  </a:t>
            </a: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LLM </a:t>
            </a:r>
            <a:r>
              <a:rPr lang="en-US" sz="11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Tier 2 mit 10 Usern = 299 + 8×29 = 531 CHF/Mo  ·  Tier 4 mit 50 Usern = 699 + 46×69 = 3'873 CHF/Mo</a:t>
            </a:r>
            <a:endParaRPr lang="en-US" sz="1100" dirty="0"/>
          </a:p>
        </p:txBody>
      </p:sp>
      <p:sp>
        <p:nvSpPr>
          <p:cNvPr id="4" name="Text 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FINANZ-INDIKATION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ARR-Szenarien Jahr 3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78308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4023360" cy="4206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79095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Annahmen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Horizont: 3 Jahre bis Ziel-State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realistisch: 50/30/15/5 % auf Tier 1–4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Seats pro Kunde: 5/10/20/50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ACV: 1.5 / 5.3 / 11.9 / 33.2 k CHF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Kosten ~50–150 CHF/Kunde/Jahr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Hochlauf: J1 ~20%, J2 ~60%, J3 100%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09560" y="4663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 ist das Ziel-Szenario. </a:t>
            </a:r>
            <a:r>
              <a:rPr lang="en-US" sz="10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Kunden in 3 Jahren ist ein gesunder Aufbau-Pfad bei diszipliniertem Content/GEO und schlanker Operations-Struktur.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Kosten-Reduktion gegenüber heute: ~280–560 k CHF/Jahr (externe Devs, Sales, Lizenzen)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Hebel statt klassischem Sales-Team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3657600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214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GEO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Authority-Aufbau im DACH-Raum: Blog, 30+ Authority-Pages, Sichtbarkeit auf Benchmark-Plattformen, Auffindbarkeit in Claude / ChatGPT / Perplexity. Ziel: 25% Share of Model bis Q4 2026.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73152" cy="3657600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03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21214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LinkedIn-First Engine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283464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Content (3 Personen), 3–5 Posts/Woche, monatliches Webinar, monatlicher Newsletter. Aufwand: 2–3 h/Woche pro Person.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73152" cy="3657600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103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1214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&amp; Provisions-Sales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283464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Innovations-Berater im DACH-Raum als Affiliates (20% Recurring). Optional ergänzt durch externe Provisions-Reps speziell für Tier 4 (30 k+ ACV) — kalt/halbwarm telefonisch.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5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Marketing-Budget: </a:t>
            </a: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Hochlauf 1'500 → 6'500 CHF/Mo über 12 Monate. Stabil 10 Kunden/Monat ab Monat 7–8 mit ~5'500–6'000 CHF Ad-Spend.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Maximal schlank, maximal automatisiert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Sitz &amp; Struktur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Zürich mit Post-/Scan-Service. Keine Anstellungen. Wer für CIN arbeitet, rechnet extern ab.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486400" cy="1920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Tech-Stack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9224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 100% durch Bruno mit Claude Code. Vercel, Supabase, EU-Daten-Residency. Sovereign-LLM als Premium-Option.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297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Success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Self-Service-Onboarding, Community statt CSMs, In-Product-Help. Crisp-Chat als Live-Layer, HubSpot als Daten-Hub.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486400" cy="1920240"/>
          </a:xfrm>
          <a:prstGeom prst="rect">
            <a:avLst/>
          </a:prstGeom>
          <a:solidFill>
            <a:srgbClr val="F4F7FA"/>
          </a:solidFill>
          <a:ln w="9525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976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297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IT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922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automatisiert. HubSpot + Stripe + Cal.com integriert. Outsourcing nur für DSGVO, Steuern, Audit.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OFFENER PUNKT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Founder-Commitment muss vor dem Start geklärt sein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Welcher Founder übernimmt operative Hauptverantwortung in welcher Phase (Build, Launch, Scale)?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Vergütung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verhalten sich Arbeitsanteil und Vergütung zueinander? Geht jemand in „Bezahlt-Modus“, während andere im „Founder-Modus“ bleiben?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Mehrjahres-Horizont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 zur Verkaufsreife oder Cashflow-Maschine im Bestand?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Diese drei Fragen werden vor Implementations-Start in einer dedizierten Founder-Sitzung schriftlich geklärt — Reassessment nach 6 Monaten.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RISIKEN &amp; MITIGATION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schiefgehen kann — und was wir dagegen tun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Entwicklung 100% durch KI-Agents — neue Methodik, wenig Erfahrungswerte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Beauftragung eines Spezialisten auf Stundenbasis als Sparring/Reviewer; Tests von Tag 1; konservative Architektur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Marktrisiko — Self-Service-Käufer im DACH-Mittelstand selten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Freemium-Funnel, kostenlose Webinare, methodische Bildung als Content statt direkter Pitch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LLM-Differenzierung — OpenAI / Anthropic könnten Workflows selbst bauen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Daten-Lock-in über Module B–D, methodische Tiefe, DACH-spezifische Quellen, Compliance-Layer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Cashflow — Self-Service-SaaS braucht Anlauf für ARR-Aufbau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zur PLG-Akquise gezielt Tier-3/4-Direkt-Akquise. Marketing-Budget gestaffelt skalieren.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Founder-Commitment — siehe Slide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 Start klären, schriftlich festhalten, 6-Monats-Reassessment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NÄCHSTE SCHRITTE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101955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Woche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Founder-Konsens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Modell, Marken-Positionierung und Rollen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03220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29032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40864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40864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Offene Punkte klären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86584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Commitment, Vergütung, Mehrjahres-Horizont schriftlich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86884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78688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24528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24528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Verträge beenden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70248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Pecode, CoxIT, Twincore per Ende Juni gemäss 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0548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667054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08192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Anfang Mai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08192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Roadmap-Kick-off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912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12-Wochen-Plan startet (separates Dokument)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54212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855421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91856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August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91856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Pilot-Kunden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37576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 Group und Carsten als Markt-Validierung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437876" y="2194560"/>
            <a:ext cx="640080" cy="640080"/>
          </a:xfrm>
          <a:prstGeom prst="ellipse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1043787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875520" y="297180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Q3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75520" y="324612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Reassessment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21240" y="374904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anhand ARR, Conversion, Share of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" y="2514600"/>
            <a:ext cx="10652760" cy="0"/>
          </a:xfrm>
          <a:prstGeom prst="line">
            <a:avLst/>
          </a:prstGeom>
          <a:noFill/>
          <a:ln w="12700">
            <a:solidFill>
              <a:srgbClr val="E0E6ED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Dieses Memo ist Diskussionsgrundlage — die finale Ausgestaltung erfolgt nach Abstimmung der drei Founder.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3.0  ·  Strategie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01168" cy="201168"/>
          </a:xfrm>
          <a:prstGeom prst="rect">
            <a:avLst/>
          </a:prstGeom>
          <a:solidFill>
            <a:srgbClr val="2AACDB"/>
          </a:solidFill>
          <a:ln w="1270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2AA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Diskussionsgrundlage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meint ihr?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AAC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Visionen — eine Synthese.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8D1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Klare Empfehlung. Offene Punkte ehrlich benannt.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3657600" cy="0"/>
          </a:xfrm>
          <a:prstGeom prst="line">
            <a:avLst/>
          </a:prstGeom>
          <a:noFill/>
          <a:ln w="19050">
            <a:solidFill>
              <a:srgbClr val="2AACD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 ·  Mai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Breitbild</PresentationFormat>
  <Paragraphs>245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 3.0 Strategie</dc:title>
  <dc:subject>PptxGenJS Presentation</dc:subject>
  <dc:creator>Bruno</dc:creator>
  <cp:lastModifiedBy>Bruno Maurer</cp:lastModifiedBy>
  <cp:revision>1</cp:revision>
  <dcterms:created xsi:type="dcterms:W3CDTF">2026-05-01T16:10:42Z</dcterms:created>
  <dcterms:modified xsi:type="dcterms:W3CDTF">2026-05-01T16:49:29Z</dcterms:modified>
</cp:coreProperties>
</file>